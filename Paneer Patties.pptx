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92440" y="658368"/>
            <a:ext cx="3246120" cy="5394960"/>
          </a:xfrm>
          <a:prstGeom prst="roundRect">
            <a:avLst/>
          </a:prstGeom>
          <a:solidFill>
            <a:srgbClr val="171A35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1051560"/>
            <a:ext cx="2560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7EF5B"/>
                </a:solidFill>
                <a:latin typeface="Aptos"/>
              </a:rPr>
              <a:t>PROCESS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00200"/>
            <a:ext cx="2606040" cy="1325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DCR
DCO
UDI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4526280"/>
            <a:ext cx="2331720" cy="82296"/>
          </a:xfrm>
          <a:prstGeom prst="rect">
            <a:avLst/>
          </a:prstGeom>
          <a:solidFill>
            <a:srgbClr val="00B8D9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800600"/>
            <a:ext cx="2560320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THREE ROUTES.
ONE DELIVERY GOAL.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749808"/>
            <a:ext cx="2011680" cy="329184"/>
          </a:xfrm>
          <a:prstGeom prst="roundRect">
            <a:avLst/>
          </a:prstGeom>
          <a:solidFill>
            <a:srgbClr val="E4F8A8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786384"/>
            <a:ext cx="1901952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82038"/>
                </a:solidFill>
                <a:latin typeface="Aptos"/>
              </a:rPr>
              <a:t>UPS US VOICE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6858000" cy="1508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82038"/>
                </a:solidFill>
                <a:latin typeface="Aptos Display"/>
              </a:rPr>
              <a:t>THE DELIVERY
CHANGE PLAYBOOK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364992"/>
            <a:ext cx="649224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B6782"/>
                </a:solidFill>
                <a:latin typeface="Aptos"/>
              </a:rPr>
              <a:t>A practical guide to delivery-change request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096512"/>
            <a:ext cx="1051560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56231" y="4096512"/>
            <a:ext cx="621792" cy="91440"/>
          </a:xfrm>
          <a:prstGeom prst="rect">
            <a:avLst/>
          </a:prstGeom>
          <a:solidFill>
            <a:srgbClr val="00B8D9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2888" y="4096512"/>
            <a:ext cx="393192" cy="91440"/>
          </a:xfrm>
          <a:prstGeom prst="rect">
            <a:avLst/>
          </a:prstGeom>
          <a:solidFill>
            <a:srgbClr val="FF4F87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846320"/>
            <a:ext cx="667512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038"/>
                </a:solidFill>
                <a:latin typeface="Aptos"/>
              </a:rPr>
              <a:t>TRISHALI GUPTA  •  CHANDRAMANI JAISWAL
PRAYAS KOCHHAR  •  JATIN ARORA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080760"/>
            <a:ext cx="6766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TELEPERFORMANCE NOIDA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01 / 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Same shipment problem. Different request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First identify who is asking for the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73152" cy="324612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01952"/>
            <a:ext cx="313639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01 / CSE-LED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12848"/>
            <a:ext cx="313639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DCR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70048"/>
            <a:ext cx="3118104" cy="22219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782"/>
                </a:solidFill>
                <a:latin typeface="Aptos"/>
              </a:rPr>
              <a:t>A customer contacts support to request an eligible delivery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3736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73152" cy="3246120"/>
          </a:xfrm>
          <a:prstGeom prst="rect">
            <a:avLst/>
          </a:prstGeom>
          <a:solidFill>
            <a:srgbClr val="00B8D9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901952"/>
            <a:ext cx="313639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B8D9"/>
                </a:solidFill>
                <a:latin typeface="Aptos"/>
              </a:rPr>
              <a:t>02 / CUSTOMER-LED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212848"/>
            <a:ext cx="313639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DCO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670048"/>
            <a:ext cx="3118104" cy="22219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782"/>
                </a:solidFill>
                <a:latin typeface="Aptos"/>
              </a:rPr>
              <a:t>A recipient uses self-service to request an available delivery option.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737360"/>
            <a:ext cx="3520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1737360"/>
            <a:ext cx="73152" cy="3246120"/>
          </a:xfrm>
          <a:prstGeom prst="rect">
            <a:avLst/>
          </a:prstGeom>
          <a:solidFill>
            <a:srgbClr val="FF4F87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01952"/>
            <a:ext cx="313639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4F87"/>
                </a:solidFill>
                <a:latin typeface="Aptos"/>
              </a:rPr>
              <a:t>03 / SHIPPER-LED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12848"/>
            <a:ext cx="313639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UDI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670048"/>
            <a:ext cx="3118104" cy="22219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782"/>
                </a:solidFill>
                <a:latin typeface="Aptos"/>
              </a:rPr>
              <a:t>The shipper requests an intercept before the shipment is delivered.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321808"/>
            <a:ext cx="10744200" cy="594360"/>
          </a:xfrm>
          <a:prstGeom prst="roundRect">
            <a:avLst/>
          </a:prstGeom>
          <a:solidFill>
            <a:srgbClr val="E4F8A8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77256"/>
            <a:ext cx="103327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82038"/>
                </a:solidFill>
                <a:latin typeface="Aptos"/>
              </a:rPr>
              <a:t>KEY IDEA   Identify the requester before explaining the options.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02 / QUICK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Who starts it — and what changes?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45920"/>
            <a:ext cx="3401568" cy="3154680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01952"/>
            <a:ext cx="5943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6547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82038"/>
                </a:solidFill>
                <a:latin typeface="Aptos Display"/>
              </a:rPr>
              <a:t>DCR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10128"/>
            <a:ext cx="283464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038"/>
                </a:solidFill>
                <a:latin typeface="Aptos"/>
              </a:rPr>
              <a:t>Customer  →  CSE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39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Support-assisted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1645920"/>
            <a:ext cx="3401568" cy="3154680"/>
          </a:xfrm>
          <a:prstGeom prst="roundRect">
            <a:avLst/>
          </a:prstGeom>
          <a:solidFill>
            <a:srgbClr val="D8F8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901952"/>
            <a:ext cx="5943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0B8D9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06040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82038"/>
                </a:solidFill>
                <a:latin typeface="Aptos Display"/>
              </a:rPr>
              <a:t>DCO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310128"/>
            <a:ext cx="283464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038"/>
                </a:solidFill>
                <a:latin typeface="Aptos"/>
              </a:rPr>
              <a:t>Customer  →  self-service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977639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Recipient-led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8" y="1645920"/>
            <a:ext cx="3401568" cy="3154680"/>
          </a:xfrm>
          <a:prstGeom prst="roundRect">
            <a:avLst/>
          </a:prstGeom>
          <a:solidFill>
            <a:srgbClr val="FFE0EC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901952"/>
            <a:ext cx="5943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4F87"/>
                </a:solidFill>
                <a:latin typeface="Aptos Display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606040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82038"/>
                </a:solidFill>
                <a:latin typeface="Aptos Display"/>
              </a:rPr>
              <a:t>UDI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310128"/>
            <a:ext cx="283464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038"/>
                </a:solidFill>
                <a:latin typeface="Aptos"/>
              </a:rPr>
              <a:t>Shipper  →  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977639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Intercept before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212080"/>
            <a:ext cx="106527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85816"/>
            <a:ext cx="10241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All requests depend on eligibility, shipment status, shipper restrictions and the applicable UPS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03 / DCR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Delivery Change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Customer → Customer Support Executive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66344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547FF"/>
                </a:solidFill>
                <a:latin typeface="Aptos"/>
              </a:rPr>
              <a:t>CLARIFY  →  CHECK  → 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4663440" cy="1371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2038"/>
                </a:solidFill>
                <a:latin typeface="Aptos Display"/>
              </a:rPr>
              <a:t>When a customer needs to change the delivery plan, the CSE checks what is allowed and explains the next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645920"/>
            <a:ext cx="53492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44805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547FF"/>
                </a:solidFill>
                <a:latin typeface="Aptos"/>
              </a:rPr>
              <a:t>THE CSE PLAYBOOK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423160"/>
            <a:ext cx="292608" cy="292608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459736"/>
            <a:ext cx="182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14016"/>
            <a:ext cx="4069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Verify shipment and customer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926080"/>
            <a:ext cx="292608" cy="292608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962656"/>
            <a:ext cx="182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16936"/>
            <a:ext cx="4069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Understand the requested 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429000"/>
            <a:ext cx="292608" cy="292608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465576"/>
            <a:ext cx="182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19856"/>
            <a:ext cx="4069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Check availability, restrictions and fee guidance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931920"/>
            <a:ext cx="292608" cy="292608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968496"/>
            <a:ext cx="182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22776"/>
            <a:ext cx="4069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Submit or explain the approved next step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4434840"/>
            <a:ext cx="292608" cy="292608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4471416"/>
            <a:ext cx="182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425696"/>
            <a:ext cx="4069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Recap what happens next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212080"/>
            <a:ext cx="10469880" cy="594360"/>
          </a:xfrm>
          <a:prstGeom prst="roundRect">
            <a:avLst/>
          </a:prstGeom>
          <a:solidFill>
            <a:srgbClr val="FFE9C7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376672"/>
            <a:ext cx="100584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82038"/>
                </a:solidFill>
                <a:latin typeface="Aptos"/>
              </a:rPr>
              <a:t>Do not promise an option or delivery date unless the system confirms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04 / DCR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Choose the change that matches the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7315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6547FF"/>
                </a:solidFill>
                <a:latin typeface="Aptos Display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2670048"/>
            <a:ext cx="685800" cy="64008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71800"/>
            <a:ext cx="29718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82038"/>
                </a:solidFill>
                <a:latin typeface="Aptos Display"/>
              </a:rPr>
              <a:t>Alternate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67328"/>
            <a:ext cx="292608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Check the eligible alternate delivery choice available for this shipment.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69164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938528"/>
            <a:ext cx="7315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B8D9"/>
                </a:solidFill>
                <a:latin typeface="Aptos Display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1728" y="2670048"/>
            <a:ext cx="685800" cy="64008"/>
          </a:xfrm>
          <a:prstGeom prst="rect">
            <a:avLst/>
          </a:prstGeom>
          <a:solidFill>
            <a:srgbClr val="00B8D9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971800"/>
            <a:ext cx="29718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82038"/>
                </a:solidFill>
                <a:latin typeface="Aptos Display"/>
              </a:rPr>
              <a:t>Change of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767328"/>
            <a:ext cx="292608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Request a different address only if the shipment is eligible and the process permits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691640"/>
            <a:ext cx="3502152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1938528"/>
            <a:ext cx="7315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4F87"/>
                </a:solidFill>
                <a:latin typeface="Aptos Display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76488" y="2670048"/>
            <a:ext cx="685800" cy="64008"/>
          </a:xfrm>
          <a:prstGeom prst="rect">
            <a:avLst/>
          </a:prstGeom>
          <a:solidFill>
            <a:srgbClr val="FF4F87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2971800"/>
            <a:ext cx="29718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82038"/>
                </a:solidFill>
                <a:latin typeface="Aptos Display"/>
              </a:rPr>
              <a:t>Hold for pickup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767328"/>
            <a:ext cx="292608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Check whether pickup at an approved UPS location or Access Point is available.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77840"/>
            <a:ext cx="104241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547FF"/>
                </a:solidFill>
                <a:latin typeface="Aptos"/>
              </a:rPr>
              <a:t>CSE reminder: confirm the exact option shown in the system before advising the customer.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04 / DCR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Two more requests to recognize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73152" cy="338328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469087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04 /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67128"/>
            <a:ext cx="469087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Redeliver to my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24328"/>
            <a:ext cx="4672583" cy="23591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782"/>
                </a:solidFill>
                <a:latin typeface="Aptos"/>
              </a:rPr>
              <a:t>Useful when the package was redirected or held and the customer wants delivery to the original address. Follow the process shown for that shipment.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73152" cy="3383280"/>
          </a:xfrm>
          <a:prstGeom prst="rect">
            <a:avLst/>
          </a:prstGeom>
          <a:solidFill>
            <a:srgbClr val="FF4F87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856232"/>
            <a:ext cx="469087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4F87"/>
                </a:solidFill>
                <a:latin typeface="Aptos"/>
              </a:rPr>
              <a:t>05 /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167128"/>
            <a:ext cx="469087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Return to shipper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624328"/>
            <a:ext cx="4672583" cy="23591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782"/>
                </a:solidFill>
                <a:latin typeface="Aptos"/>
              </a:rPr>
              <a:t>The customer requests the package be sent back, if that request is available under the applicable delivery-change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394960"/>
            <a:ext cx="10378440" cy="548640"/>
          </a:xfrm>
          <a:prstGeom prst="roundRect">
            <a:avLst/>
          </a:prstGeom>
          <a:solidFill>
            <a:srgbClr val="E4F8A8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541264"/>
            <a:ext cx="99212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82038"/>
                </a:solidFill>
                <a:latin typeface="Aptos"/>
              </a:rPr>
              <a:t>Exact availability can depend on shipment status and UPS rules.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05 / DCR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A simple CSE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2103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9144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547FF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783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038"/>
                </a:solidFill>
                <a:latin typeface="Aptos"/>
              </a:rP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73552"/>
            <a:ext cx="178308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82"/>
                </a:solidFill>
                <a:latin typeface="Aptos"/>
              </a:rPr>
              <a:t>Tracking / shipment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788920"/>
            <a:ext cx="20116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0B8D9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1874519"/>
            <a:ext cx="2103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103120"/>
            <a:ext cx="9144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547FF"/>
                </a:solidFill>
                <a:latin typeface="Aptos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743200"/>
            <a:ext cx="1783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038"/>
                </a:solidFill>
                <a:latin typeface="Aptos"/>
              </a:rP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273552"/>
            <a:ext cx="178308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82"/>
                </a:solidFill>
                <a:latin typeface="Aptos"/>
              </a:rPr>
              <a:t>What change is requested?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2788920"/>
            <a:ext cx="20116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0B8D9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1874519"/>
            <a:ext cx="2103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2103120"/>
            <a:ext cx="9144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547FF"/>
                </a:solidFill>
                <a:latin typeface="Aptos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2743200"/>
            <a:ext cx="1783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038"/>
                </a:solidFill>
                <a:latin typeface="Aptos"/>
              </a:rP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3273552"/>
            <a:ext cx="178308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82"/>
                </a:solidFill>
                <a:latin typeface="Aptos"/>
              </a:rPr>
              <a:t>Eligibility and restrictions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788920"/>
            <a:ext cx="20116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0B8D9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2088" y="1874519"/>
            <a:ext cx="2103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2103120"/>
            <a:ext cx="9144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547FF"/>
                </a:solidFill>
                <a:latin typeface="Aptos Display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743200"/>
            <a:ext cx="1783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038"/>
                </a:solidFill>
                <a:latin typeface="Aptos"/>
              </a:rPr>
              <a:t>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273552"/>
            <a:ext cx="178308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82"/>
                </a:solidFill>
                <a:latin typeface="Aptos"/>
              </a:rPr>
              <a:t>Options, timing, any fees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9" y="2788920"/>
            <a:ext cx="201168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0B8D9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93807" y="1874519"/>
            <a:ext cx="2103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399" y="2103120"/>
            <a:ext cx="9144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547FF"/>
                </a:solidFill>
                <a:latin typeface="Aptos Display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399" y="2743200"/>
            <a:ext cx="1783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038"/>
                </a:solidFill>
                <a:latin typeface="Aptos"/>
              </a:rPr>
              <a:t>CONFIRM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399" y="3273552"/>
            <a:ext cx="178308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82"/>
                </a:solidFill>
                <a:latin typeface="Aptos"/>
              </a:rPr>
              <a:t>Action and next steps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892040"/>
            <a:ext cx="10241280" cy="640080"/>
          </a:xfrm>
          <a:prstGeom prst="roundRect">
            <a:avLst/>
          </a:prstGeom>
          <a:solidFill>
            <a:srgbClr val="D8F8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074920"/>
            <a:ext cx="98755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82038"/>
                </a:solidFill>
                <a:latin typeface="Aptos"/>
              </a:rPr>
              <a:t>A calm explanation is better than a fast guess.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06 / DCO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Delivery Change 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Customer → self-service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37360"/>
            <a:ext cx="4434840" cy="3337560"/>
          </a:xfrm>
          <a:prstGeom prst="roundRect">
            <a:avLst/>
          </a:prstGeom>
          <a:solidFill>
            <a:srgbClr val="171A35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3840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7EF5B"/>
                </a:solidFill>
                <a:latin typeface="Aptos"/>
              </a:rPr>
              <a:t>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3749039" cy="1508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 Display"/>
              </a:rPr>
              <a:t>The recipient uses an eligible online option instead of asking a CSE to submit the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737360"/>
            <a:ext cx="55778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057400"/>
            <a:ext cx="4663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B8D9"/>
                </a:solidFill>
                <a:latin typeface="Aptos"/>
              </a:rPr>
              <a:t>TYPICAL REQUEST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542032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8D9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42032"/>
            <a:ext cx="43434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Open UPS tracking or UPS My 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980944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8D9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80944"/>
            <a:ext cx="43434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Select the eligible shipment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419856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8D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19856"/>
            <a:ext cx="43434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Choose the option displayed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3858768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8D9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58768"/>
            <a:ext cx="43434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Complete required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4297679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8D9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79"/>
            <a:ext cx="43434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Review and submit the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547FF"/>
                </a:solidFill>
                <a:latin typeface="Aptos"/>
              </a:rPr>
              <a:t>If an option is missing, the shipment may be restricted or ineligible. Follow the displayed guidance.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07 / DCO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Five options — training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Confirm this list against your training material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476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547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929384"/>
            <a:ext cx="2514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038"/>
                </a:solidFill>
                <a:latin typeface="Aptos"/>
              </a:rPr>
              <a:t>Reschedule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377440"/>
            <a:ext cx="25146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82"/>
                </a:solidFill>
                <a:latin typeface="Aptos"/>
              </a:rPr>
              <a:t>Move delivery to another eligible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8308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476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B8D9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929384"/>
            <a:ext cx="2514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038"/>
                </a:solidFill>
                <a:latin typeface="Aptos"/>
              </a:rPr>
              <a:t>Hold for pickup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377440"/>
            <a:ext cx="25146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82"/>
                </a:solidFill>
                <a:latin typeface="Aptos"/>
              </a:rPr>
              <a:t>Collect from an eligible UPS location.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78308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9476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4F87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1929384"/>
            <a:ext cx="2514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038"/>
                </a:solidFill>
                <a:latin typeface="Aptos"/>
              </a:rPr>
              <a:t>Reroute / new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377440"/>
            <a:ext cx="25146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82"/>
                </a:solidFill>
                <a:latin typeface="Aptos"/>
              </a:rPr>
              <a:t>Deliver to another eligible address.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39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685031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C9A23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3666744"/>
            <a:ext cx="2514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038"/>
                </a:solidFill>
                <a:latin typeface="Aptos"/>
              </a:rPr>
              <a:t>Leave with a neighbor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7" y="4114800"/>
            <a:ext cx="25146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82"/>
                </a:solidFill>
                <a:latin typeface="Aptos"/>
              </a:rPr>
              <a:t>Only where available and permitted.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520439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3685031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547FF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666744"/>
            <a:ext cx="2514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038"/>
                </a:solidFill>
                <a:latin typeface="Aptos"/>
              </a:rPr>
              <a:t>Delivery instructions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4114800"/>
            <a:ext cx="25146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82"/>
                </a:solidFill>
                <a:latin typeface="Aptos"/>
              </a:rPr>
              <a:t>Provide eligible guidance for the driver.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520440"/>
            <a:ext cx="3246120" cy="1417320"/>
          </a:xfrm>
          <a:prstGeom prst="roundRect">
            <a:avLst/>
          </a:prstGeom>
          <a:solidFill>
            <a:srgbClr val="E4F8A8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3767328"/>
            <a:ext cx="28346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038"/>
                </a:solidFill>
                <a:latin typeface="Aptos"/>
              </a:rPr>
              <a:t>DCO options vary by eligibility, account, shipment and shipper restrictions.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08 / DCO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Self-service is convenient — not unlimited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73152" cy="324612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30449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01 / RESTRICTIONS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304495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Shipper restrictions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24328"/>
            <a:ext cx="3026664" cy="22219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782"/>
                </a:solidFill>
                <a:latin typeface="Aptos"/>
              </a:rPr>
              <a:t>A shipper may limit which delivery changes the recipient can 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73152" cy="3246120"/>
          </a:xfrm>
          <a:prstGeom prst="rect">
            <a:avLst/>
          </a:prstGeom>
          <a:solidFill>
            <a:srgbClr val="00B8D9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856232"/>
            <a:ext cx="30449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B8D9"/>
                </a:solidFill>
                <a:latin typeface="Aptos"/>
              </a:rPr>
              <a:t>02 / ELIGIBILITY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67128"/>
            <a:ext cx="304495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Shipment eligibility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24328"/>
            <a:ext cx="3026664" cy="22219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782"/>
                </a:solidFill>
                <a:latin typeface="Aptos"/>
              </a:rPr>
              <a:t>Package type, status and service rules can affect available choices.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9164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91640"/>
            <a:ext cx="73152" cy="3246120"/>
          </a:xfrm>
          <a:prstGeom prst="rect">
            <a:avLst/>
          </a:prstGeom>
          <a:solidFill>
            <a:srgbClr val="FF4F87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856232"/>
            <a:ext cx="30449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4F87"/>
                </a:solidFill>
                <a:latin typeface="Aptos"/>
              </a:rPr>
              <a:t>03 / CHECK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67128"/>
            <a:ext cx="304495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Fees and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624328"/>
            <a:ext cx="3026664" cy="22219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782"/>
                </a:solidFill>
                <a:latin typeface="Aptos"/>
              </a:rPr>
              <a:t>Some requests may require identity checks or incur fees. Check current details.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038"/>
                </a:solidFill>
                <a:latin typeface="Aptos"/>
              </a:rPr>
              <a:t>Avoid quoting fixed prices or membership benefits unless current UPS tools confirm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09 / 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UPS Delivery Intercept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82"/>
                </a:solidFill>
                <a:latin typeface="Aptos"/>
              </a:rPr>
              <a:t>Shipper → 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91640"/>
            <a:ext cx="4754880" cy="3474720"/>
          </a:xfrm>
          <a:prstGeom prst="roundRect">
            <a:avLst/>
          </a:prstGeom>
          <a:solidFill>
            <a:srgbClr val="171A35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7EF5B"/>
                </a:solidFill>
                <a:latin typeface="Aptos"/>
              </a:rPr>
              <a:t>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3886200" cy="1508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The shipper requests a change to an eligible shipment after handing it to UPS but before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9164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011680"/>
            <a:ext cx="44805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547FF"/>
                </a:solidFill>
                <a:latin typeface="Aptos"/>
              </a:rPr>
              <a:t>FOUR CORE INTERCEPT OPTIONS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2542032"/>
            <a:ext cx="292608" cy="292608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2578608"/>
            <a:ext cx="182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532888"/>
            <a:ext cx="40690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Return to sender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044952"/>
            <a:ext cx="292608" cy="292608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3081528"/>
            <a:ext cx="182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3035808"/>
            <a:ext cx="40690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Deliver to another address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547872"/>
            <a:ext cx="292608" cy="292608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3584448"/>
            <a:ext cx="182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538728"/>
            <a:ext cx="40690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Reschedule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4050791"/>
            <a:ext cx="292608" cy="292608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4087368"/>
            <a:ext cx="182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4041648"/>
            <a:ext cx="40690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Hold for pickup (Will Call)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86400"/>
            <a:ext cx="102412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547FF"/>
                </a:solidFill>
                <a:latin typeface="Aptos"/>
              </a:rPr>
              <a:t>An intercept must be requested before delivery; fees may apply if completed.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10 / UDI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Request → review → intercept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73152" cy="333756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313639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01 / 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313639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Identify shipment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70048"/>
            <a:ext cx="3118104" cy="23134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Use the appropriate UPS shipping history or tracking tools available to the shipper.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73152" cy="3337560"/>
          </a:xfrm>
          <a:prstGeom prst="rect">
            <a:avLst/>
          </a:prstGeom>
          <a:solidFill>
            <a:srgbClr val="00B8D9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01952"/>
            <a:ext cx="313639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B8D9"/>
                </a:solidFill>
                <a:latin typeface="Aptos"/>
              </a:rPr>
              <a:t>02 / CHOOSE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212848"/>
            <a:ext cx="313639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Select intercept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0048"/>
            <a:ext cx="3118104" cy="23134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Pick return, reroute, reschedule or hold for pickup based on available choices.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3736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737360"/>
            <a:ext cx="73152" cy="3337560"/>
          </a:xfrm>
          <a:prstGeom prst="rect">
            <a:avLst/>
          </a:prstGeom>
          <a:solidFill>
            <a:srgbClr val="FF4F87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901952"/>
            <a:ext cx="313639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4F87"/>
                </a:solidFill>
                <a:latin typeface="Aptos"/>
              </a:rPr>
              <a:t>03 / CONFIRM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212848"/>
            <a:ext cx="313639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Check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670048"/>
            <a:ext cx="3118104" cy="23134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Submit the request and review the status; don't assume it is complete until confirmed.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3327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82"/>
                </a:solidFill>
                <a:latin typeface="Aptos"/>
              </a:rPr>
              <a:t>Eligibility, timing, service rules and charges may affect whether an intercept can be completed.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11 / 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DCR vs DCO vs UDI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874519" cy="502920"/>
          </a:xfrm>
          <a:prstGeom prst="roundRect">
            <a:avLst/>
          </a:prstGeom>
          <a:solidFill>
            <a:srgbClr val="171A35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92224"/>
            <a:ext cx="172821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45920"/>
            <a:ext cx="2468880" cy="502920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792224"/>
            <a:ext cx="232257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WHO STARTS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645920"/>
            <a:ext cx="2468880" cy="502920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3832" y="1792224"/>
            <a:ext cx="232257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HOW IT'S REQUESTED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37560" cy="502920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92224"/>
            <a:ext cx="319125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CORE IDEA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286000"/>
            <a:ext cx="1874519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468880"/>
            <a:ext cx="172821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547FF"/>
                </a:solidFill>
                <a:latin typeface="Aptos"/>
              </a:rPr>
              <a:t>DCR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286000"/>
            <a:ext cx="2468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468880"/>
            <a:ext cx="232257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82038"/>
                </a:solidFill>
                <a:latin typeface="Aptos"/>
              </a:rPr>
              <a:t>Customer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2286000"/>
            <a:ext cx="2468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3832" y="2468880"/>
            <a:ext cx="232257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82038"/>
                </a:solidFill>
                <a:latin typeface="Aptos"/>
              </a:rPr>
              <a:t>Through a CSE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286000"/>
            <a:ext cx="3337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468880"/>
            <a:ext cx="319125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82038"/>
                </a:solidFill>
                <a:latin typeface="Aptos"/>
              </a:rPr>
              <a:t>Support-assisted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00400"/>
            <a:ext cx="1874519" cy="713232"/>
          </a:xfrm>
          <a:prstGeom prst="roundRect">
            <a:avLst/>
          </a:prstGeom>
          <a:solidFill>
            <a:srgbClr val="F2EDFF"/>
          </a:solidFill>
          <a:ln>
            <a:solidFill>
              <a:srgbClr val="E0E6F2"/>
            </a:solidFill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383280"/>
            <a:ext cx="172821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547FF"/>
                </a:solidFill>
                <a:latin typeface="Aptos"/>
              </a:rPr>
              <a:t>DCO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3200400"/>
            <a:ext cx="2468880" cy="713232"/>
          </a:xfrm>
          <a:prstGeom prst="roundRect">
            <a:avLst/>
          </a:prstGeom>
          <a:solidFill>
            <a:srgbClr val="F2EDFF"/>
          </a:solidFill>
          <a:ln>
            <a:solidFill>
              <a:srgbClr val="E0E6F2"/>
            </a:solidFill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6352" y="3383280"/>
            <a:ext cx="232257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82038"/>
                </a:solidFill>
                <a:latin typeface="Aptos"/>
              </a:rPr>
              <a:t>Customer / recipient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3200400"/>
            <a:ext cx="2468880" cy="713232"/>
          </a:xfrm>
          <a:prstGeom prst="roundRect">
            <a:avLst/>
          </a:prstGeom>
          <a:solidFill>
            <a:srgbClr val="F2EDFF"/>
          </a:solidFill>
          <a:ln>
            <a:solidFill>
              <a:srgbClr val="E0E6F2"/>
            </a:solidFill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13832" y="3383280"/>
            <a:ext cx="232257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82038"/>
                </a:solidFill>
                <a:latin typeface="Aptos"/>
              </a:rPr>
              <a:t>Self-service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200400"/>
            <a:ext cx="3337560" cy="713232"/>
          </a:xfrm>
          <a:prstGeom prst="roundRect">
            <a:avLst/>
          </a:prstGeom>
          <a:solidFill>
            <a:srgbClr val="F2EDFF"/>
          </a:solidFill>
          <a:ln>
            <a:solidFill>
              <a:srgbClr val="E0E6F2"/>
            </a:solidFill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1312" y="3383280"/>
            <a:ext cx="319125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82038"/>
                </a:solidFill>
                <a:latin typeface="Aptos"/>
              </a:rPr>
              <a:t>Recipient-led change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114800"/>
            <a:ext cx="1874519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297680"/>
            <a:ext cx="172821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547FF"/>
                </a:solidFill>
                <a:latin typeface="Aptos"/>
              </a:rPr>
              <a:t>UDI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4114800"/>
            <a:ext cx="2468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16352" y="4297680"/>
            <a:ext cx="232257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82038"/>
                </a:solidFill>
                <a:latin typeface="Aptos"/>
              </a:rPr>
              <a:t>Shipper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80" y="4114800"/>
            <a:ext cx="2468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13832" y="4297680"/>
            <a:ext cx="232257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82038"/>
                </a:solidFill>
                <a:latin typeface="Aptos"/>
              </a:rPr>
              <a:t>UPS shipper tools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114800"/>
            <a:ext cx="3337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4297680"/>
            <a:ext cx="319125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82038"/>
                </a:solidFill>
                <a:latin typeface="Aptos"/>
              </a:rPr>
              <a:t>Intercept before delivery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349240"/>
            <a:ext cx="10424160" cy="594360"/>
          </a:xfrm>
          <a:prstGeom prst="roundRect">
            <a:avLst/>
          </a:prstGeom>
          <a:solidFill>
            <a:srgbClr val="E4F8A8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513832"/>
            <a:ext cx="1005840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82038"/>
                </a:solidFill>
                <a:latin typeface="Aptos"/>
              </a:rPr>
              <a:t>First question to ask: Who is requesting the change?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984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12 / QUICK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038"/>
                </a:solidFill>
                <a:latin typeface="Aptos Display"/>
              </a:rPr>
              <a:t>One package. Three possible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0332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"/>
              </a:rPr>
              <a:t>A shipment needs to go somewhere different before it reaches the recipient.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34290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73152" cy="265176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13432"/>
            <a:ext cx="30449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547FF"/>
                </a:solidFill>
                <a:latin typeface="Aptos"/>
              </a:rPr>
              <a:t>IF THE CUSTOMER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24328"/>
            <a:ext cx="304495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DCR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081528"/>
            <a:ext cx="3026664" cy="16276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Check the request and available options through the support process.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48840"/>
            <a:ext cx="34290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148840"/>
            <a:ext cx="73152" cy="2651760"/>
          </a:xfrm>
          <a:prstGeom prst="rect">
            <a:avLst/>
          </a:prstGeom>
          <a:solidFill>
            <a:srgbClr val="00B8D9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313432"/>
            <a:ext cx="30449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B8D9"/>
                </a:solidFill>
                <a:latin typeface="Aptos"/>
              </a:rPr>
              <a:t>IF THE CUSTOMER USES ONLINE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24328"/>
            <a:ext cx="304495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DCO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081528"/>
            <a:ext cx="3026664" cy="16276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Check the options displayed in eligible self-service.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48840"/>
            <a:ext cx="34290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0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148840"/>
            <a:ext cx="73152" cy="2651760"/>
          </a:xfrm>
          <a:prstGeom prst="rect">
            <a:avLst/>
          </a:prstGeom>
          <a:solidFill>
            <a:srgbClr val="FF4F87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313432"/>
            <a:ext cx="30449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4F87"/>
                </a:solidFill>
                <a:latin typeface="Aptos"/>
              </a:rPr>
              <a:t>IF THE SHIPPER REQUESTS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624328"/>
            <a:ext cx="3044952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 Display"/>
              </a:rPr>
              <a:t>UDI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081528"/>
            <a:ext cx="3026664" cy="16276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82"/>
                </a:solidFill>
                <a:latin typeface="Aptos"/>
              </a:rPr>
              <a:t>Check intercept eligibility before delivery.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212080"/>
            <a:ext cx="10378440" cy="621792"/>
          </a:xfrm>
          <a:prstGeom prst="roundRect">
            <a:avLst/>
          </a:prstGeom>
          <a:solidFill>
            <a:srgbClr val="E8E2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394960"/>
            <a:ext cx="10012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82038"/>
                </a:solidFill>
                <a:latin typeface="Aptos"/>
              </a:rPr>
              <a:t>Same goal, different request path. Verify the shipment and follow the approved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47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685800"/>
            <a:ext cx="1828800" cy="329184"/>
          </a:xfrm>
          <a:prstGeom prst="roundRect">
            <a:avLst/>
          </a:prstGeom>
          <a:solidFill>
            <a:srgbClr val="E4F8A8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722376"/>
            <a:ext cx="1719072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82038"/>
                </a:solidFill>
                <a:latin typeface="Aptos"/>
              </a:rPr>
              <a:t>MISSION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6309360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82038"/>
                </a:solidFill>
                <a:latin typeface="Aptos Display"/>
              </a:rPr>
              <a:t>THANK
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91840"/>
            <a:ext cx="58521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547FF"/>
                </a:solidFill>
                <a:latin typeface="Aptos"/>
              </a:rPr>
              <a:t>WE CAME. WE LEARNED. WE DELIVERED.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840480"/>
            <a:ext cx="59436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5B6782"/>
                </a:solidFill>
                <a:latin typeface="Aptos"/>
              </a:rPr>
              <a:t>Questions? We're all ears. 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417320"/>
            <a:ext cx="3566160" cy="3200400"/>
          </a:xfrm>
          <a:prstGeom prst="roundRect">
            <a:avLst/>
          </a:prstGeom>
          <a:solidFill>
            <a:srgbClr val="D8F8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783080"/>
            <a:ext cx="31089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182038"/>
                </a:solidFill>
                <a:latin typeface="Aptos"/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514600"/>
            <a:ext cx="3108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82038"/>
                </a:solidFill>
                <a:latin typeface="Aptos"/>
              </a:rPr>
              <a:t>DELIVERED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800600"/>
            <a:ext cx="2057400" cy="329184"/>
          </a:xfrm>
          <a:prstGeom prst="roundRect">
            <a:avLst/>
          </a:prstGeom>
          <a:solidFill>
            <a:srgbClr val="FFE0EC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9983" y="4837176"/>
            <a:ext cx="1947672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4F87"/>
                </a:solidFill>
                <a:latin typeface="Aptos"/>
              </a:rPr>
              <a:t>NO MORE HOLD MUSIC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5166360"/>
            <a:ext cx="1417320" cy="329184"/>
          </a:xfrm>
          <a:prstGeom prst="roundRect">
            <a:avLst/>
          </a:prstGeom>
          <a:solidFill>
            <a:srgbClr val="D8F8FF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0264" y="5202936"/>
            <a:ext cx="1307592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B8D9"/>
                </a:solidFill>
                <a:latin typeface="Aptos"/>
              </a:rPr>
              <a:t>CASE CLOSED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69880" y="4800600"/>
            <a:ext cx="1143000" cy="329184"/>
          </a:xfrm>
          <a:prstGeom prst="roundRect">
            <a:avLst/>
          </a:prstGeom>
          <a:solidFill>
            <a:srgbClr val="E4F8A8"/>
          </a:solidFill>
          <a:ln>
            <a:noFill/>
          </a:ln>
          <a:effectLst>
            <a:outerShdw blurRad="42000" dist="18000" dir="2700000" algn="ctr" rotWithShape="0">
              <a:srgbClr val="5653A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24744" y="4837176"/>
            <a:ext cx="1033271" cy="21945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82038"/>
                </a:solidFill>
                <a:latin typeface="Aptos"/>
              </a:rPr>
              <a:t>SLAYED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120640"/>
            <a:ext cx="539496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82038"/>
                </a:solidFill>
                <a:latin typeface="Aptos"/>
              </a:rPr>
              <a:t>TRISHALI GUPTA  •  CHANDRAMANI JAISWAL
PRAYAS KOCHHAR  •  JATIN ARORA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108192"/>
            <a:ext cx="6583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US VOICE PROCESS  |  TELEPERFORMANCE NOIDA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82"/>
                </a:solidFill>
                <a:latin typeface="Aptos"/>
              </a:rPr>
              <a:t>UPS PROCESS TRAINING  /  TELEPERFORMANCE NOIDA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8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